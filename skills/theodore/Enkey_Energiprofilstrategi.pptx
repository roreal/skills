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Enkey Energiprofilstrategi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AI-driven energiplattform</a:t>
            </a:r>
          </a:p>
          <a:p>
            <a:pPr>
              <a:defRPr sz="2200"/>
            </a:pPr>
            <a:r>
              <a:t>Energiprofilbaserad prissättning</a:t>
            </a:r>
          </a:p>
          <a:p>
            <a:pPr>
              <a:defRPr sz="2200"/>
            </a:pPr>
            <a:r>
              <a:t>Rätt tjänst för rätt byggnad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Problemet med traditionella modeller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Pris per lägenhet och m² speglar inte verklig energikomplexitet</a:t>
            </a:r>
          </a:p>
          <a:p>
            <a:pPr>
              <a:defRPr sz="2200"/>
            </a:pPr>
            <a:r>
              <a:t>Olika byggnader har olika optimeringspotential</a:t>
            </a:r>
          </a:p>
          <a:p>
            <a:pPr>
              <a:defRPr sz="2200"/>
            </a:pPr>
            <a:r>
              <a:t>Risk för svaga ROI-case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Ny prismodell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Pris baserat på kundens energiprofil</a:t>
            </a:r>
          </a:p>
          <a:p>
            <a:pPr>
              <a:defRPr sz="2200"/>
            </a:pPr>
            <a:r>
              <a:t>Historisk normalårskorrigerad energi</a:t>
            </a:r>
          </a:p>
          <a:p>
            <a:pPr>
              <a:defRPr sz="2200"/>
            </a:pPr>
            <a:r>
              <a:t>Fast avgift + kr/MWh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Varför modellen är rättvis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FTX-</a:t>
            </a:r>
            <a:r>
              <a:rPr dirty="0" err="1"/>
              <a:t>byggnader</a:t>
            </a:r>
            <a:r>
              <a:rPr dirty="0"/>
              <a:t> </a:t>
            </a:r>
            <a:r>
              <a:rPr dirty="0" err="1"/>
              <a:t>får</a:t>
            </a:r>
            <a:r>
              <a:rPr dirty="0"/>
              <a:t> </a:t>
            </a:r>
            <a:r>
              <a:rPr dirty="0" err="1"/>
              <a:t>lägre</a:t>
            </a:r>
            <a:r>
              <a:rPr dirty="0"/>
              <a:t> pris</a:t>
            </a:r>
          </a:p>
          <a:p>
            <a:pPr>
              <a:defRPr sz="2200"/>
            </a:pPr>
            <a:r>
              <a:rPr dirty="0" err="1"/>
              <a:t>Äldre</a:t>
            </a:r>
            <a:r>
              <a:rPr dirty="0"/>
              <a:t> F/S-</a:t>
            </a:r>
            <a:r>
              <a:rPr dirty="0" err="1"/>
              <a:t>byggnader</a:t>
            </a:r>
            <a:r>
              <a:rPr dirty="0"/>
              <a:t> </a:t>
            </a:r>
            <a:r>
              <a:rPr dirty="0" err="1"/>
              <a:t>får</a:t>
            </a:r>
            <a:r>
              <a:rPr dirty="0"/>
              <a:t> </a:t>
            </a:r>
            <a:r>
              <a:rPr dirty="0" err="1"/>
              <a:t>högre</a:t>
            </a:r>
            <a:r>
              <a:rPr dirty="0"/>
              <a:t> potential</a:t>
            </a:r>
          </a:p>
          <a:p>
            <a:pPr>
              <a:defRPr sz="2200"/>
            </a:pPr>
            <a:r>
              <a:rPr dirty="0" err="1"/>
              <a:t>Värmepumpar</a:t>
            </a:r>
            <a:r>
              <a:rPr dirty="0"/>
              <a:t> ger </a:t>
            </a:r>
            <a:r>
              <a:rPr dirty="0" err="1"/>
              <a:t>naturligt</a:t>
            </a:r>
            <a:r>
              <a:rPr dirty="0"/>
              <a:t> </a:t>
            </a:r>
            <a:r>
              <a:rPr dirty="0" err="1"/>
              <a:t>lägre</a:t>
            </a:r>
            <a:r>
              <a:rPr dirty="0"/>
              <a:t> </a:t>
            </a:r>
            <a:r>
              <a:rPr dirty="0" err="1"/>
              <a:t>prisnivå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Optimate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Kvalificering av rätt kund</a:t>
            </a:r>
          </a:p>
          <a:p>
            <a:pPr>
              <a:defRPr sz="2200"/>
            </a:pPr>
            <a:r>
              <a:t>ROI-motor</a:t>
            </a:r>
          </a:p>
          <a:p>
            <a:pPr>
              <a:defRPr sz="2200"/>
            </a:pPr>
            <a:r>
              <a:t>Undvik olönsamma projekt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Webb-kalkylator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Kunden anger energiförbrukning och byggnadstyp</a:t>
            </a:r>
          </a:p>
          <a:p>
            <a:pPr>
              <a:defRPr sz="2200"/>
            </a:pPr>
            <a:r>
              <a:t>Visar besparing, payback och rekommenderad tjänst</a:t>
            </a:r>
          </a:p>
          <a:p>
            <a:pPr>
              <a:defRPr sz="2200"/>
            </a:pPr>
            <a:r>
              <a:t>Lead generation och rådgivande försäljning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 tjänstelager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Building Insight® = Data och compliance</a:t>
            </a:r>
          </a:p>
          <a:p>
            <a:pPr>
              <a:defRPr sz="2200"/>
            </a:pPr>
            <a:r>
              <a:t>Optimate™ = Energieffektivisering</a:t>
            </a:r>
          </a:p>
          <a:p>
            <a:pPr>
              <a:defRPr sz="2200"/>
            </a:pPr>
            <a:r>
              <a:t>Demand Response = Elprisoptimering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Strategiska fördelar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Högre ARR-stabilitet</a:t>
            </a:r>
          </a:p>
          <a:p>
            <a:pPr>
              <a:defRPr sz="2200"/>
            </a:pPr>
            <a:r>
              <a:t>Starkare positionering</a:t>
            </a:r>
          </a:p>
          <a:p>
            <a:pPr>
              <a:defRPr sz="2200"/>
            </a:pPr>
            <a:r>
              <a:t>Bättre kundnöjdhet</a:t>
            </a:r>
          </a:p>
          <a:p>
            <a:pPr>
              <a:defRPr sz="2200"/>
            </a:pPr>
            <a:r>
              <a:t>Skalbar plattform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Slutsats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Enkey </a:t>
            </a:r>
            <a:r>
              <a:rPr dirty="0" err="1"/>
              <a:t>blir</a:t>
            </a:r>
            <a:r>
              <a:rPr dirty="0"/>
              <a:t> </a:t>
            </a:r>
            <a:r>
              <a:rPr lang="sv-SE" dirty="0"/>
              <a:t>möjliggörare och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rådgivande</a:t>
            </a:r>
            <a:r>
              <a:rPr dirty="0"/>
              <a:t> </a:t>
            </a:r>
            <a:r>
              <a:rPr dirty="0" err="1"/>
              <a:t>energiplattform</a:t>
            </a:r>
            <a:endParaRPr dirty="0"/>
          </a:p>
          <a:p>
            <a:pPr>
              <a:defRPr sz="2200"/>
            </a:pPr>
            <a:r>
              <a:rPr dirty="0"/>
              <a:t>AI-driven </a:t>
            </a:r>
            <a:r>
              <a:rPr dirty="0" err="1"/>
              <a:t>energioptimering</a:t>
            </a:r>
            <a:endParaRPr dirty="0"/>
          </a:p>
          <a:p>
            <a:pPr>
              <a:defRPr sz="2200"/>
            </a:pPr>
            <a:r>
              <a:rPr dirty="0" err="1"/>
              <a:t>Framtidssäkrad</a:t>
            </a:r>
            <a:r>
              <a:rPr dirty="0"/>
              <a:t> </a:t>
            </a:r>
            <a:r>
              <a:rPr dirty="0" err="1"/>
              <a:t>affärsmodell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136</Words>
  <Application>Microsoft Macintosh PowerPoint</Application>
  <PresentationFormat>Bildspel på skärmen (4:3)</PresentationFormat>
  <Paragraphs>37</Paragraphs>
  <Slides>9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Enkey Energiprofilstrategi</vt:lpstr>
      <vt:lpstr>Problemet med traditionella modeller</vt:lpstr>
      <vt:lpstr>Ny prismodell</vt:lpstr>
      <vt:lpstr>Varför modellen är rättvis</vt:lpstr>
      <vt:lpstr>Optimate Score</vt:lpstr>
      <vt:lpstr>Webb-kalkylator</vt:lpstr>
      <vt:lpstr>Tre tjänstelager</vt:lpstr>
      <vt:lpstr>Strategiska fördelar</vt:lpstr>
      <vt:lpstr>Slutsats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Robert Rennel</cp:lastModifiedBy>
  <cp:revision>2</cp:revision>
  <dcterms:created xsi:type="dcterms:W3CDTF">2013-01-27T09:14:16Z</dcterms:created>
  <dcterms:modified xsi:type="dcterms:W3CDTF">2026-05-25T09:05:16Z</dcterms:modified>
  <cp:category/>
</cp:coreProperties>
</file>